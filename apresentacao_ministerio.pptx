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69B4"/>
                </a:solidFill>
              </a:defRPr>
            </a:pPr>
            <a:r>
              <a:t>Central Inteligente de Câncer de Mama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AAAAA"/>
                </a:solidFill>
              </a:defRPr>
            </a:pPr>
            <a:r>
              <a:t>Curitiba - Paraná</a:t>
            </a:r>
            <a:br/>
            <a:br/>
            <a:r>
              <a:t>Mais que um Dashboard: Uma Plataforma de Inteligência para Jornada do Paciente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 Problema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74720" cy="4114800"/>
          </a:xfrm>
          <a:prstGeom prst="roundRect">
            <a:avLst/>
          </a:prstGeom>
          <a:solidFill>
            <a:srgbClr val="23233C"/>
          </a:solidFill>
          <a:ln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10312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7A2B8"/>
                </a:solidFill>
              </a:defRPr>
            </a:pPr>
            <a:r>
              <a:t>Tempo de Espera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0175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AAAAAA"/>
                </a:solidFill>
              </a:defRPr>
            </a:pPr>
            <a:r>
              <a:t>Pacientes aguardam meses entre a solicitação da mamografia e o resultado, perdendo a janela crítica de tratamento precoce.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828800"/>
            <a:ext cx="3474720" cy="4114800"/>
          </a:xfrm>
          <a:prstGeom prst="roundRect">
            <a:avLst/>
          </a:prstGeom>
          <a:solidFill>
            <a:srgbClr val="23233C"/>
          </a:solidFill>
          <a:ln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10312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7A2B8"/>
                </a:solidFill>
              </a:defRPr>
            </a:pPr>
            <a:r>
              <a:t>Pacientes Perdidas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0175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AAAAAA"/>
                </a:solidFill>
              </a:defRPr>
            </a:pPr>
            <a:r>
              <a:t>Mulheres com BI-RADS 4 e 5 (alto risco) não retornam para acompanhamento, aumentando mortalidade evitável.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828800"/>
            <a:ext cx="3474720" cy="4114800"/>
          </a:xfrm>
          <a:prstGeom prst="roundRect">
            <a:avLst/>
          </a:prstGeom>
          <a:solidFill>
            <a:srgbClr val="23233C"/>
          </a:solidFill>
          <a:ln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9" y="210312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7A2B8"/>
                </a:solidFill>
              </a:defRPr>
            </a:pPr>
            <a:r>
              <a:t>Dados Fragmentados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30175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AAAAAA"/>
                </a:solidFill>
              </a:defRPr>
            </a:pPr>
            <a:r>
              <a:t>SISCAN, eSaúde e outros sistemas não conversam entre si, impossibilitando visão completa da jornada da paciente.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 Solução: Central Inteligente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Visualização em tempo real de toda a rede de atenção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Rastreamento da jornada completa da paciente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Priorização automática por risco clínico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Alertas inteligentes para busca ativa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Indicadores de desempenho por unidade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29200"/>
            <a:ext cx="10972800" cy="1371600"/>
          </a:xfrm>
          <a:prstGeom prst="roundRect">
            <a:avLst/>
          </a:prstGeom>
          <a:solidFill>
            <a:srgbClr val="282846"/>
          </a:solidFill>
          <a:ln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FFFFFF"/>
                </a:solidFill>
              </a:defRPr>
            </a:pPr>
            <a:r>
              <a:t>Uma plataforma que transforma dados brutos do SISCAN em inteligência acionável.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Funcionalidade 1: Navegação da Paciente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Visualize todo o histórico de uma paciente em uma única tela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Primeiro exame até o mais recente, com evolução do BI-RADS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Tempos de espera entre cada etapa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Unidades de atendimento ao longo da jornada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Filtros por evolução: Positiva (3,4,5 → outros), Negativa (0,1,2 → 3,4,5), Normal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29200"/>
            <a:ext cx="10972800" cy="1371600"/>
          </a:xfrm>
          <a:prstGeom prst="roundRect">
            <a:avLst/>
          </a:prstGeom>
          <a:solidFill>
            <a:srgbClr val="282846"/>
          </a:solidFill>
          <a:ln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FFFFFF"/>
                </a:solidFill>
              </a:defRPr>
            </a:pPr>
            <a:r>
              <a:t>Jornada Completa = Decisões Informadas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Funcionalidade 2: Priorização Inteligente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74720" cy="4114800"/>
          </a:xfrm>
          <a:prstGeom prst="roundRect">
            <a:avLst/>
          </a:prstGeom>
          <a:solidFill>
            <a:srgbClr val="23233C"/>
          </a:solidFill>
          <a:ln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10312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7A2B8"/>
                </a:solidFill>
              </a:defRPr>
            </a:pPr>
            <a:r>
              <a:t>CRÍTICO (Vermelho)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0175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AAAAAA"/>
                </a:solidFill>
              </a:defRPr>
            </a:pPr>
            <a:r>
              <a:t>BI-RADS 5</a:t>
            </a:r>
            <a:br/>
            <a:r>
              <a:t>Altamente suspeito</a:t>
            </a:r>
            <a:br/>
            <a:br/>
            <a:r>
              <a:t>SLA: 24 horas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828800"/>
            <a:ext cx="3474720" cy="4114800"/>
          </a:xfrm>
          <a:prstGeom prst="roundRect">
            <a:avLst/>
          </a:prstGeom>
          <a:solidFill>
            <a:srgbClr val="23233C"/>
          </a:solidFill>
          <a:ln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10312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7A2B8"/>
                </a:solidFill>
              </a:defRPr>
            </a:pPr>
            <a:r>
              <a:t>ALTO (Laranja)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0175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AAAAAA"/>
                </a:solidFill>
              </a:defRPr>
            </a:pPr>
            <a:r>
              <a:t>BI-RADS 4</a:t>
            </a:r>
            <a:br/>
            <a:r>
              <a:t>Suspeito</a:t>
            </a:r>
            <a:br/>
            <a:br/>
            <a:r>
              <a:t>SLA: 72 horas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828800"/>
            <a:ext cx="3474720" cy="4114800"/>
          </a:xfrm>
          <a:prstGeom prst="roundRect">
            <a:avLst/>
          </a:prstGeom>
          <a:solidFill>
            <a:srgbClr val="23233C"/>
          </a:solidFill>
          <a:ln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9" y="210312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7A2B8"/>
                </a:solidFill>
              </a:defRPr>
            </a:pPr>
            <a:r>
              <a:t>MÉDIO (Amarelo)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30175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AAAAAA"/>
                </a:solidFill>
              </a:defRPr>
            </a:pPr>
            <a:r>
              <a:t>BI-RADS 0</a:t>
            </a:r>
            <a:br/>
            <a:r>
              <a:t>Inconclusivo</a:t>
            </a:r>
            <a:br/>
            <a:br/>
            <a:r>
              <a:t>SLA: 7 dias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Funcionalidade 3: Interoperabilidade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Cruzamento inteligente entre SISCAN e eSaúde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Identificação de pacientes presentes em ambos os sistemas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Detecção de pacientes exclusivas de cada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Alertas de duplicidade por CNS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Garantia de que nenhuma paciente fique 'invisível'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29200"/>
            <a:ext cx="10972800" cy="1371600"/>
          </a:xfrm>
          <a:prstGeom prst="roundRect">
            <a:avLst/>
          </a:prstGeom>
          <a:solidFill>
            <a:srgbClr val="282846"/>
          </a:solidFill>
          <a:ln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FFFFFF"/>
                </a:solidFill>
              </a:defRPr>
            </a:pPr>
            <a:r>
              <a:t>100% de cobertura de dados entre sistemas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Funcionalidade 4: Indicadores Clínicos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COBERTURA: População-alvo atendida vs. meta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AGILIDADE: Tempo médio entre solicitação e resultado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ENCAMINHAMENTOS: Distribuição por categoria BI-RADS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CASOS ESPECIAIS: Fora da faixa etária e situações atípicas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29200"/>
            <a:ext cx="10972800" cy="1371600"/>
          </a:xfrm>
          <a:prstGeom prst="roundRect">
            <a:avLst/>
          </a:prstGeom>
          <a:solidFill>
            <a:srgbClr val="282846"/>
          </a:solidFill>
          <a:ln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FFFFFF"/>
                </a:solidFill>
              </a:defRPr>
            </a:pPr>
            <a:r>
              <a:t>10 indicadores organizados em 4 blocos estratégicos com metas e histórico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Funcionalidade 5: Análise por 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KPIs específicos por unidade de saúde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Heatmap demográfico por faixa 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Histograma de tempos de espera com meta de 30 dias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Fila de retorno pendente (BI-RADS 0, 3, 4, 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Exportação para busca ativa com um clique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Segurança e Governança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74720" cy="4114800"/>
          </a:xfrm>
          <a:prstGeom prst="roundRect">
            <a:avLst/>
          </a:prstGeom>
          <a:solidFill>
            <a:srgbClr val="23233C"/>
          </a:solidFill>
          <a:ln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10312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7A2B8"/>
                </a:solidFill>
              </a:defRPr>
            </a:pPr>
            <a:r>
              <a:t>Controle de Acesso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0175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AAAAAA"/>
                </a:solidFill>
              </a:defRPr>
            </a:pPr>
            <a:r>
              <a:t>3 níveis hierárquicos:</a:t>
            </a:r>
            <a:br/>
            <a:r>
              <a:t>Secretaria, Distrito e Unidade</a:t>
            </a:r>
            <a:br/>
            <a:br/>
            <a:r>
              <a:t>Cada um com visão restrita ao seu escopo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828800"/>
            <a:ext cx="3474720" cy="4114800"/>
          </a:xfrm>
          <a:prstGeom prst="roundRect">
            <a:avLst/>
          </a:prstGeom>
          <a:solidFill>
            <a:srgbClr val="23233C"/>
          </a:solidFill>
          <a:ln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10312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7A2B8"/>
                </a:solidFill>
              </a:defRPr>
            </a:pPr>
            <a:r>
              <a:t>Mascaramento de Dados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0175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AAAAAA"/>
                </a:solidFill>
              </a:defRPr>
            </a:pPr>
            <a:r>
              <a:t>Nomes, CPF, CNS e telefones mascarados por padrão</a:t>
            </a:r>
            <a:br/>
            <a:br/>
            <a:r>
              <a:t>Proteção da privacidade das pacientes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828800"/>
            <a:ext cx="3474720" cy="4114800"/>
          </a:xfrm>
          <a:prstGeom prst="roundRect">
            <a:avLst/>
          </a:prstGeom>
          <a:solidFill>
            <a:srgbClr val="23233C"/>
          </a:solidFill>
          <a:ln>
            <a:solidFill>
              <a:srgbClr val="3C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9" y="2103120"/>
            <a:ext cx="3108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7A2B8"/>
                </a:solidFill>
              </a:defRPr>
            </a:pPr>
            <a:r>
              <a:t>Autenticação Segura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30175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AAAAAA"/>
                </a:solidFill>
              </a:defRPr>
            </a:pPr>
            <a:r>
              <a:t>Senhas criptografadas</a:t>
            </a:r>
            <a:br/>
            <a:r>
              <a:t>Timeout de sessão</a:t>
            </a:r>
            <a:br/>
            <a:r>
              <a:t>Recuperação de senha segura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Por que é Diferente?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Dashboard Tradicional: Mostra dados agregados e estáticos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Dashboard Tradicional: Foca em números, não em pessoas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Central Inteligente: Constrói a jornada individual da paciente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Central Inteligente: Prioriza por risco clínico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Central Inteligente: Detecta evolução e alerta automaticamente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29200"/>
            <a:ext cx="10972800" cy="1371600"/>
          </a:xfrm>
          <a:prstGeom prst="roundRect">
            <a:avLst/>
          </a:prstGeom>
          <a:solidFill>
            <a:srgbClr val="282846"/>
          </a:solidFill>
          <a:ln>
            <a:solidFill>
              <a:srgbClr val="FF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FFFFFF"/>
                </a:solidFill>
              </a:defRPr>
            </a:pPr>
            <a:r>
              <a:t>"Não contamos exames. Acompanhamos vidas."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Visão de Futuro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INTELIGÊNCIA ARTIFICIAL: Predição de risco de não-retorno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ALERTAS AUTOMATIZADOS: Notificações em tempo real para gestores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APP PARA ACS: Aplicativo móvel para busca ativa em campo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EXPANSÃO NACIONAL: Modelo replicável para outros municípios via DATASUS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69B4"/>
                </a:solidFill>
              </a:defRPr>
            </a:pPr>
            <a:r>
              <a:t>Central Inteligente de Câncer de Mama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AAAAA"/>
                </a:solidFill>
              </a:defRPr>
            </a:pPr>
            <a:r>
              <a:t>Transformando dados em vidas salvas</a:t>
            </a:r>
            <a:br/>
            <a:br/>
            <a:r>
              <a:t>Secretaria Municipal de Saúde de Curitiba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